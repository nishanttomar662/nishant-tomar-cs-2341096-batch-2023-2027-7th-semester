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9" r:id="rId3"/>
    <p:sldId id="290" r:id="rId4"/>
    <p:sldId id="295" r:id="rId5"/>
    <p:sldId id="291" r:id="rId6"/>
    <p:sldId id="292" r:id="rId7"/>
    <p:sldId id="294" r:id="rId8"/>
    <p:sldId id="293" r:id="rId9"/>
    <p:sldId id="286" r:id="rId10"/>
  </p:sldIdLst>
  <p:sldSz cx="12192000" cy="6858000"/>
  <p:notesSz cx="6858000" cy="9144000"/>
  <p:embeddedFontLst>
    <p:embeddedFont>
      <p:font typeface="Baskerville Old Face" panose="02020602080505020303" pitchFamily="18" charset="0"/>
      <p:regular r:id="rId12"/>
    </p:embeddedFont>
    <p:embeddedFont>
      <p:font typeface="Corbel" panose="020B0503020204020204" pitchFamily="34" charset="0"/>
      <p:regular r:id="rId13"/>
      <p:bold r:id="rId14"/>
      <p:italic r:id="rId15"/>
      <p:boldItalic r:id="rId16"/>
    </p:embeddedFont>
    <p:embeddedFont>
      <p:font typeface="Pinyon Script" panose="020B0604020202020204" charset="0"/>
      <p:regular r:id="rId17"/>
    </p:embeddedFont>
    <p:embeddedFont>
      <p:font typeface="Play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8D9A7-285E-46F7-94EA-30DB79B08F1C}" v="8" dt="2026-08-29T07:25:0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43" Type="http://customschemas.google.com/relationships/presentationmetadata" Target="meta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Kumari" userId="5e9a5de37fab1011" providerId="LiveId" clId="{51C81679-BFC4-4031-B837-2F3D2388C9A8}"/>
    <pc:docChg chg="undo custSel modSld">
      <pc:chgData name="Swati Kumari" userId="5e9a5de37fab1011" providerId="LiveId" clId="{51C81679-BFC4-4031-B837-2F3D2388C9A8}" dt="2026-08-29T07:25:55.983" v="105" actId="255"/>
      <pc:docMkLst>
        <pc:docMk/>
      </pc:docMkLst>
      <pc:sldChg chg="addSp delSp modSp mod">
        <pc:chgData name="Swati Kumari" userId="5e9a5de37fab1011" providerId="LiveId" clId="{51C81679-BFC4-4031-B837-2F3D2388C9A8}" dt="2026-08-29T07:15:29.064" v="31" actId="20577"/>
        <pc:sldMkLst>
          <pc:docMk/>
          <pc:sldMk cId="0" sldId="256"/>
        </pc:sldMkLst>
        <pc:spChg chg="mod">
          <ac:chgData name="Swati Kumari" userId="5e9a5de37fab1011" providerId="LiveId" clId="{51C81679-BFC4-4031-B837-2F3D2388C9A8}" dt="2026-08-29T07:15:29.064" v="31" actId="20577"/>
          <ac:spMkLst>
            <pc:docMk/>
            <pc:sldMk cId="0" sldId="256"/>
            <ac:spMk id="4" creationId="{AE5D53C0-7D9C-0407-9838-59BD2520362B}"/>
          </ac:spMkLst>
        </pc:spChg>
        <pc:spChg chg="add mod">
          <ac:chgData name="Swati Kumari" userId="5e9a5de37fab1011" providerId="LiveId" clId="{51C81679-BFC4-4031-B837-2F3D2388C9A8}" dt="2026-08-29T07:14:24.873" v="29" actId="113"/>
          <ac:spMkLst>
            <pc:docMk/>
            <pc:sldMk cId="0" sldId="256"/>
            <ac:spMk id="8" creationId="{CEA3E89E-FC48-3A1C-6ED3-C7B75C17A18E}"/>
          </ac:spMkLst>
        </pc:spChg>
        <pc:spChg chg="add del">
          <ac:chgData name="Swati Kumari" userId="5e9a5de37fab1011" providerId="LiveId" clId="{51C81679-BFC4-4031-B837-2F3D2388C9A8}" dt="2026-08-29T07:13:46.959" v="25" actId="22"/>
          <ac:spMkLst>
            <pc:docMk/>
            <pc:sldMk cId="0" sldId="256"/>
            <ac:spMk id="10" creationId="{5C2DFC1D-1A5F-DF75-7600-C441299FBBD8}"/>
          </ac:spMkLst>
        </pc:spChg>
      </pc:sldChg>
      <pc:sldChg chg="modSp mod">
        <pc:chgData name="Swati Kumari" userId="5e9a5de37fab1011" providerId="LiveId" clId="{51C81679-BFC4-4031-B837-2F3D2388C9A8}" dt="2026-08-29T07:16:33.222" v="35" actId="20577"/>
        <pc:sldMkLst>
          <pc:docMk/>
          <pc:sldMk cId="0" sldId="289"/>
        </pc:sldMkLst>
        <pc:spChg chg="mod">
          <ac:chgData name="Swati Kumari" userId="5e9a5de37fab1011" providerId="LiveId" clId="{51C81679-BFC4-4031-B837-2F3D2388C9A8}" dt="2026-08-29T07:16:33.222" v="35" actId="20577"/>
          <ac:spMkLst>
            <pc:docMk/>
            <pc:sldMk cId="0" sldId="289"/>
            <ac:spMk id="108" creationId="{00000000-0000-0000-0000-000000000000}"/>
          </ac:spMkLst>
        </pc:spChg>
      </pc:sldChg>
      <pc:sldChg chg="addSp delSp modSp mod">
        <pc:chgData name="Swati Kumari" userId="5e9a5de37fab1011" providerId="LiveId" clId="{51C81679-BFC4-4031-B837-2F3D2388C9A8}" dt="2026-08-29T07:25:36.968" v="104" actId="12"/>
        <pc:sldMkLst>
          <pc:docMk/>
          <pc:sldMk cId="0" sldId="291"/>
        </pc:sldMkLst>
        <pc:spChg chg="add del mod">
          <ac:chgData name="Swati Kumari" userId="5e9a5de37fab1011" providerId="LiveId" clId="{51C81679-BFC4-4031-B837-2F3D2388C9A8}" dt="2026-08-29T07:19:15.922" v="57"/>
          <ac:spMkLst>
            <pc:docMk/>
            <pc:sldMk cId="0" sldId="291"/>
            <ac:spMk id="2" creationId="{70B96CAA-D485-F2F8-B397-1ACA79662C9C}"/>
          </ac:spMkLst>
        </pc:spChg>
        <pc:spChg chg="add del mod">
          <ac:chgData name="Swati Kumari" userId="5e9a5de37fab1011" providerId="LiveId" clId="{51C81679-BFC4-4031-B837-2F3D2388C9A8}" dt="2026-08-29T07:24:56.499" v="91"/>
          <ac:spMkLst>
            <pc:docMk/>
            <pc:sldMk cId="0" sldId="291"/>
            <ac:spMk id="3" creationId="{5E3E836E-A7A5-AE5C-C873-4157A5F9B123}"/>
          </ac:spMkLst>
        </pc:spChg>
        <pc:spChg chg="add del mod">
          <ac:chgData name="Swati Kumari" userId="5e9a5de37fab1011" providerId="LiveId" clId="{51C81679-BFC4-4031-B837-2F3D2388C9A8}" dt="2026-08-29T07:24:56.499" v="93"/>
          <ac:spMkLst>
            <pc:docMk/>
            <pc:sldMk cId="0" sldId="291"/>
            <ac:spMk id="4" creationId="{826FB9D7-F95A-644F-72AB-9AD5456D7385}"/>
          </ac:spMkLst>
        </pc:spChg>
        <pc:spChg chg="add del mod">
          <ac:chgData name="Swati Kumari" userId="5e9a5de37fab1011" providerId="LiveId" clId="{51C81679-BFC4-4031-B837-2F3D2388C9A8}" dt="2026-08-29T07:24:56.499" v="95"/>
          <ac:spMkLst>
            <pc:docMk/>
            <pc:sldMk cId="0" sldId="291"/>
            <ac:spMk id="5" creationId="{1730E229-45F9-7347-AED5-518E544AC578}"/>
          </ac:spMkLst>
        </pc:spChg>
        <pc:spChg chg="add del mod">
          <ac:chgData name="Swati Kumari" userId="5e9a5de37fab1011" providerId="LiveId" clId="{51C81679-BFC4-4031-B837-2F3D2388C9A8}" dt="2026-08-29T07:24:56.499" v="97"/>
          <ac:spMkLst>
            <pc:docMk/>
            <pc:sldMk cId="0" sldId="291"/>
            <ac:spMk id="6" creationId="{3994CC3B-2E48-5E21-F7D8-EA6A6D58678D}"/>
          </ac:spMkLst>
        </pc:spChg>
        <pc:spChg chg="add mod">
          <ac:chgData name="Swati Kumari" userId="5e9a5de37fab1011" providerId="LiveId" clId="{51C81679-BFC4-4031-B837-2F3D2388C9A8}" dt="2026-08-29T07:25:36.968" v="104" actId="12"/>
          <ac:spMkLst>
            <pc:docMk/>
            <pc:sldMk cId="0" sldId="291"/>
            <ac:spMk id="7" creationId="{9C1EC130-FE4C-F2AE-E1FF-259EF75C592B}"/>
          </ac:spMkLst>
        </pc:spChg>
        <pc:spChg chg="mod">
          <ac:chgData name="Swati Kumari" userId="5e9a5de37fab1011" providerId="LiveId" clId="{51C81679-BFC4-4031-B837-2F3D2388C9A8}" dt="2026-08-29T07:24:28.607" v="84" actId="1076"/>
          <ac:spMkLst>
            <pc:docMk/>
            <pc:sldMk cId="0" sldId="291"/>
            <ac:spMk id="107" creationId="{00000000-0000-0000-0000-000000000000}"/>
          </ac:spMkLst>
        </pc:spChg>
        <pc:spChg chg="mod">
          <ac:chgData name="Swati Kumari" userId="5e9a5de37fab1011" providerId="LiveId" clId="{51C81679-BFC4-4031-B837-2F3D2388C9A8}" dt="2026-08-29T07:24:16.522" v="81" actId="255"/>
          <ac:spMkLst>
            <pc:docMk/>
            <pc:sldMk cId="0" sldId="291"/>
            <ac:spMk id="108" creationId="{00000000-0000-0000-0000-000000000000}"/>
          </ac:spMkLst>
        </pc:spChg>
      </pc:sldChg>
      <pc:sldChg chg="modSp mod">
        <pc:chgData name="Swati Kumari" userId="5e9a5de37fab1011" providerId="LiveId" clId="{51C81679-BFC4-4031-B837-2F3D2388C9A8}" dt="2026-08-29T07:25:55.983" v="105" actId="255"/>
        <pc:sldMkLst>
          <pc:docMk/>
          <pc:sldMk cId="0" sldId="292"/>
        </pc:sldMkLst>
        <pc:spChg chg="mod">
          <ac:chgData name="Swati Kumari" userId="5e9a5de37fab1011" providerId="LiveId" clId="{51C81679-BFC4-4031-B837-2F3D2388C9A8}" dt="2026-08-29T07:25:55.983" v="105" actId="255"/>
          <ac:spMkLst>
            <pc:docMk/>
            <pc:sldMk cId="0" sldId="292"/>
            <ac:spMk id="108" creationId="{00000000-0000-0000-0000-000000000000}"/>
          </ac:spMkLst>
        </pc:spChg>
      </pc:sldChg>
      <pc:sldChg chg="modSp mod">
        <pc:chgData name="Swati Kumari" userId="5e9a5de37fab1011" providerId="LiveId" clId="{51C81679-BFC4-4031-B837-2F3D2388C9A8}" dt="2026-08-29T07:16:58.977" v="38" actId="2711"/>
        <pc:sldMkLst>
          <pc:docMk/>
          <pc:sldMk cId="26322674" sldId="295"/>
        </pc:sldMkLst>
        <pc:spChg chg="mod">
          <ac:chgData name="Swati Kumari" userId="5e9a5de37fab1011" providerId="LiveId" clId="{51C81679-BFC4-4031-B837-2F3D2388C9A8}" dt="2026-08-29T07:16:48.693" v="37" actId="27636"/>
          <ac:spMkLst>
            <pc:docMk/>
            <pc:sldMk cId="26322674" sldId="295"/>
            <ac:spMk id="3" creationId="{35B2ECAA-6D4A-B0E6-B6EE-E24B43A7149C}"/>
          </ac:spMkLst>
        </pc:spChg>
        <pc:spChg chg="mod">
          <ac:chgData name="Swati Kumari" userId="5e9a5de37fab1011" providerId="LiveId" clId="{51C81679-BFC4-4031-B837-2F3D2388C9A8}" dt="2026-08-29T07:16:58.977" v="38" actId="2711"/>
          <ac:spMkLst>
            <pc:docMk/>
            <pc:sldMk cId="26322674" sldId="295"/>
            <ac:spMk id="6" creationId="{E7564ED9-9063-C55E-B524-DB295A5CE4A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3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399032"/>
            <a:ext cx="841248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4300" b="1">
                <a:solidFill>
                  <a:srgbClr val="141414"/>
                </a:solidFill>
                <a:latin typeface="Times New Roman"/>
              </a:rPr>
              <a:t>School of Computer Science and</a:t>
            </a:r>
            <a:br/>
            <a:r>
              <a:rPr sz="4300" b="1">
                <a:solidFill>
                  <a:srgbClr val="141414"/>
                </a:solidFill>
                <a:latin typeface="Times New Roman"/>
              </a:rPr>
              <a:t>Engineering</a:t>
            </a:r>
            <a:br/>
            <a:r>
              <a:rPr sz="4300" b="1">
                <a:solidFill>
                  <a:srgbClr val="141414"/>
                </a:solidFill>
                <a:latin typeface="Times New Roman"/>
              </a:rPr>
              <a:t>B.Tech (CSE)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55264"/>
            <a:ext cx="1019556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A41C0F"/>
                </a:solidFill>
                <a:latin typeface="Times New Roman"/>
              </a:rPr>
              <a:t>Project Title-Virtual AI Guest Experience: Strategic Plan for Smart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25112"/>
            <a:ext cx="489204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1414"/>
                </a:solidFill>
                <a:latin typeface="Times New Roman"/>
              </a:rPr>
              <a:t>Presented By – Nishant Tomar</a:t>
            </a:r>
            <a:br/>
            <a:r>
              <a:rPr sz="1700" b="1">
                <a:solidFill>
                  <a:srgbClr val="141414"/>
                </a:solidFill>
                <a:latin typeface="Times New Roman"/>
              </a:rPr>
              <a:t>SECTION – 4CSE5</a:t>
            </a:r>
            <a:br/>
            <a:r>
              <a:rPr sz="1700" b="1">
                <a:solidFill>
                  <a:srgbClr val="141414"/>
                </a:solidFill>
                <a:latin typeface="Times New Roman"/>
              </a:rPr>
              <a:t>ROLL NO. – CS-2341096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2432" y="4297680"/>
            <a:ext cx="489204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1414"/>
                </a:solidFill>
                <a:latin typeface="Times New Roman"/>
              </a:rPr>
              <a:t>Organization Name - Cognifyz IT Solutions Pvt. Ltd.</a:t>
            </a:r>
            <a:br/>
            <a:r>
              <a:rPr sz="1700" b="1">
                <a:solidFill>
                  <a:srgbClr val="141414"/>
                </a:solidFill>
                <a:latin typeface="Times New Roman"/>
              </a:rPr>
              <a:t>B.Tech CSE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554480"/>
            <a:ext cx="9921240" cy="4251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Hospitality is moving toward faster, personalized and digitally connected guest experiences.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Guests increasingly expect 24/7 assistance, relevant recommendations and low-friction service.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AI can act as a digital service layer across the guest journey, from discovery to post-stay engagement.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The proposed Virtual AI Guest Experience combines conversational AI, personalization, service automation and smart-room support.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The goal is not to replace staff, but to reduce repetitive work and help employees focus on empathy, judgment and service recovery.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Problem statement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50">
                <a:solidFill>
                  <a:srgbClr val="141414"/>
                </a:solidFill>
                <a:latin typeface="Times New Roman"/>
              </a:rPr>
              <a:t>• How can AI be integrated into guest services to deliver seamless, interactive and personalized experiences while maintaining human oversight?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81328"/>
            <a:ext cx="36576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Key market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828800"/>
            <a:ext cx="996696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141414"/>
                </a:solidFill>
                <a:latin typeface="Times New Roman"/>
              </a:rPr>
              <a:t>• AI-driven travel and hospitality experiences are becoming an important technology priority.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141414"/>
                </a:solidFill>
                <a:latin typeface="Times New Roman"/>
              </a:rPr>
              <a:t>• Travelers increasingly use technology for informed decisions, recommendations and trip planning.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141414"/>
                </a:solidFill>
                <a:latin typeface="Times New Roman"/>
              </a:rPr>
              <a:t>• Personalization is becoming central to guest engagement, marketing and customer service.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141414"/>
                </a:solidFill>
                <a:latin typeface="Times New Roman"/>
              </a:rPr>
              <a:t>• Agentic AI is moving beyond answering questions toward executing bounded, multi-step tasks.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141414"/>
                </a:solidFill>
                <a:latin typeface="Times New Roman"/>
              </a:rPr>
              <a:t>• Trust, privacy, system integration and human oversight remain important adoption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384048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Strategic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85232"/>
            <a:ext cx="987552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Times New Roman"/>
              </a:rPr>
              <a:t>Build one AI-enabled guest layer that connects conversations, preferences and hotel operations across the complete guest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Guest Needs &amp; Experience Journey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508760"/>
          <a:ext cx="101955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057400"/>
                <a:gridCol w="2788920"/>
                <a:gridCol w="2331720"/>
                <a:gridCol w="160020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>
                    <a:solidFill>
                      <a:srgbClr val="1F37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Times New Roman"/>
                        </a:rPr>
                        <a:t>Guest need</a:t>
                      </a:r>
                    </a:p>
                  </a:txBody>
                  <a:tcPr>
                    <a:solidFill>
                      <a:srgbClr val="1F37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Times New Roman"/>
                        </a:rPr>
                        <a:t>AI interaction</a:t>
                      </a:r>
                    </a:p>
                  </a:txBody>
                  <a:tcPr>
                    <a:solidFill>
                      <a:srgbClr val="1F37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Times New Roman"/>
                        </a:rPr>
                        <a:t>System support</a:t>
                      </a:r>
                    </a:p>
                  </a:txBody>
                  <a:tcPr>
                    <a:solidFill>
                      <a:srgbClr val="1F37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Times New Roman"/>
                        </a:rPr>
                        <a:t>Success metric</a:t>
                      </a:r>
                    </a:p>
                  </a:txBody>
                  <a:tcPr>
                    <a:solidFill>
                      <a:srgbClr val="1F374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Relevant room / trip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AI trip &amp; room advisor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Booking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Conversion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Pre-arrival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Easy preparation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Digital concierge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PMS + CRM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Engagement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Fast check-in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AI-assisted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PMS +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Check-in time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In-stay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Quick service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Service-request agent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PMS + housekeeping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Resolution time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Useful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Next-best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CRM + local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Ancillary conversion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Departure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Simple checkout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Invoice + feedback assistant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PMS + survey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41414"/>
                          </a:solidFill>
                          <a:latin typeface="Times New Roman"/>
                        </a:rPr>
                        <a:t>Completion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2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Implementation /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81328"/>
            <a:ext cx="45720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Step-by-step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672084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1. Establish baseline — map guest journeys, requests, wait times and pain points.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2. Build knowledge foundation — create approved, current hotel information and consent rules.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3. Launch concierge MVP — multilingual Q&amp;A, pre-arrival support and human escalation.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4. Add service actions — connect low-risk requests to hotel workflows.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5. Personalize — use consented preferences for relevant recommendations.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6. Integrate smart rooms — pilot secure, limited room controls.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7. Introduce bounded agentic workflows — automate only policy-defined actions.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50">
                <a:solidFill>
                  <a:srgbClr val="141414"/>
                </a:solidFill>
                <a:latin typeface="Times New Roman"/>
              </a:rPr>
              <a:t>• 8. Scale and optimize — expand using service quality, guest feedback and 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1481328"/>
            <a:ext cx="31089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Evaluation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847088"/>
            <a:ext cx="2971800" cy="3383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Accuracy of AI responses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Self-service completion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Response and resolution time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Guest satisfaction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Appropriate human escalation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Security and privacy incidents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Operational and financial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AI Integration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45720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AI integration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5532120" cy="4206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Conversational AI concierge — grounded answers from approved hotel knowledge.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Personalization engine — consent-aware guest preferences and next-best recommendations.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Agentic service workflows — bounded actions with validation, authorization and logging.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Voice &amp; multimodal support — text, voice, kiosk and visual interfaces.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20">
                <a:solidFill>
                  <a:srgbClr val="141414"/>
                </a:solidFill>
                <a:latin typeface="Times New Roman"/>
              </a:rPr>
              <a:t>• Smart-room integration — secure commands for approved room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417320"/>
            <a:ext cx="4023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Technology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251960" cy="4251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Guest channels: Web, mobile, messaging, voice, kiosk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AI: Enterprise LLM + agent/orchestration layer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Knowledge: Document store + vector database + RAG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Data: CRM/CDP + secure database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Operations: PMS, POS, housekeeping and work-order APIs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IoT: Secure room-control gateway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70">
                <a:solidFill>
                  <a:srgbClr val="141414"/>
                </a:solidFill>
                <a:latin typeface="Times New Roman"/>
              </a:rPr>
              <a:t>• Security: IAM, encryption, secrets management,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1874519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Guest Channels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Web • App • Messaging •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874519"/>
            <a:ext cx="205740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Identity &amp; Consent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Guest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0" y="1874519"/>
            <a:ext cx="214884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AI Orchestration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Conversation +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74519"/>
            <a:ext cx="274320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Knowledge + Personalization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RAG • CRM/CDP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331720"/>
            <a:ext cx="411480" cy="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2331720"/>
            <a:ext cx="411480" cy="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2331720"/>
            <a:ext cx="411480" cy="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3794760"/>
            <a:ext cx="2057400" cy="914400"/>
          </a:xfrm>
          <a:prstGeom prst="roundRect">
            <a:avLst/>
          </a:prstGeom>
          <a:solidFill>
            <a:srgbClr val="EBF2EB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41414"/>
                </a:solidFill>
                <a:latin typeface="Times New Roman"/>
              </a:rPr>
              <a:t>Action Gateway</a:t>
            </a:r>
            <a:br/>
            <a:r>
              <a:rPr sz="1150" b="1">
                <a:solidFill>
                  <a:srgbClr val="141414"/>
                </a:solidFill>
                <a:latin typeface="Times New Roman"/>
              </a:rPr>
              <a:t>Validation • Authorization •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794760"/>
            <a:ext cx="2148840" cy="914400"/>
          </a:xfrm>
          <a:prstGeom prst="roundRect">
            <a:avLst/>
          </a:prstGeom>
          <a:solidFill>
            <a:srgbClr val="EBF2EB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Hotel Systems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PMS • POS • Housekeeping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794760"/>
            <a:ext cx="2743200" cy="914400"/>
          </a:xfrm>
          <a:prstGeom prst="roundRect">
            <a:avLst/>
          </a:prstGeom>
          <a:solidFill>
            <a:srgbClr val="EBF2EB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IoT / Smart Rooms</a:t>
            </a:r>
            <a:br/>
            <a:r>
              <a:rPr sz="1200" b="1">
                <a:solidFill>
                  <a:srgbClr val="141414"/>
                </a:solidFill>
                <a:latin typeface="Times New Roman"/>
              </a:rPr>
              <a:t>Secure Device Gateway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822191" y="2788920"/>
            <a:ext cx="2505457" cy="100584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27648" y="2788920"/>
            <a:ext cx="0" cy="100584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06640" y="4251960"/>
            <a:ext cx="411480" cy="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5257800"/>
            <a:ext cx="2743200" cy="658368"/>
          </a:xfrm>
          <a:prstGeom prst="roundRect">
            <a:avLst/>
          </a:prstGeom>
          <a:solidFill>
            <a:srgbClr val="F8EFE6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Human Staff Console / Escalation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5257800"/>
            <a:ext cx="2743200" cy="658368"/>
          </a:xfrm>
          <a:prstGeom prst="roundRect">
            <a:avLst/>
          </a:prstGeom>
          <a:solidFill>
            <a:srgbClr val="F8EFE6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Analytics &amp;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257800"/>
            <a:ext cx="2743200" cy="658368"/>
          </a:xfrm>
          <a:prstGeom prst="roundRect">
            <a:avLst/>
          </a:prstGeom>
          <a:solidFill>
            <a:srgbClr val="F8EFE6"/>
          </a:solidFill>
          <a:ln>
            <a:solidFill>
              <a:srgbClr val="4A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Times New Roman"/>
              </a:rPr>
              <a:t>Audit &amp; Governance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011680" y="4709160"/>
            <a:ext cx="1810511" cy="54864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32120" y="4709160"/>
            <a:ext cx="795528" cy="54864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4709160"/>
            <a:ext cx="1645920" cy="548640"/>
          </a:xfrm>
          <a:prstGeom prst="line">
            <a:avLst/>
          </a:prstGeom>
          <a:ln w="19050">
            <a:solidFill>
              <a:srgbClr val="4A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3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530352"/>
            <a:ext cx="6675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555555"/>
                </a:solidFill>
                <a:latin typeface="Corbel"/>
              </a:rPr>
              <a:t>• Challenges, Expected Outcomes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2743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475488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AI hallucinations / outdated information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Privacy and consent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Cybersecurity and unauthorized actions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Legacy system fragmentation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Over-automation and staff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371600"/>
            <a:ext cx="3474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Proposed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4688" y="1719072"/>
            <a:ext cx="484632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RAG + controlled knowledge sources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Data minimization and consent controls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Least privilege + audit logs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API gateway and phased integration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80">
                <a:solidFill>
                  <a:srgbClr val="141414"/>
                </a:solidFill>
                <a:latin typeface="Times New Roman"/>
              </a:rPr>
              <a:t>• Human escalation and staff co-design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31920"/>
            <a:ext cx="31089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Expected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79392"/>
            <a:ext cx="475488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Faster guest response and service resolution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More efficient self-service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Improved personalization and guest satisfaction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Reduced repetitive workload for staff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New opportunities for ancillary revenue and loyalty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931920"/>
            <a:ext cx="3474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Times New Roman"/>
              </a:rPr>
              <a:t>Future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4279392"/>
            <a:ext cx="484632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Predictive service recovery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Multilingual voice concierge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Smart-room energy optimization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Agent-to-agent travel coordination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20">
                <a:solidFill>
                  <a:srgbClr val="141414"/>
                </a:solidFill>
                <a:latin typeface="Times New Roman"/>
              </a:rPr>
              <a:t>• Digital-twin simulation and continuous experimentation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870448"/>
            <a:ext cx="9692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A5A5A"/>
                </a:solidFill>
                <a:latin typeface="Times New Roman"/>
              </a:rPr>
              <a:t>Research basis: Deloitte • McKinsey • Booking.com • Oracle/Skift • Adyen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234440"/>
            <a:ext cx="10058400" cy="1828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555555"/>
                </a:solidFill>
                <a:latin typeface="Corbe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418320" cy="1600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141414"/>
                </a:solidFill>
                <a:latin typeface="Times New Roman"/>
              </a:rPr>
              <a:t>A human-centered Virtual AI Guest Experience can make hospitality</a:t>
            </a:r>
            <a:br/>
            <a:r>
              <a:rPr sz="2100" b="1">
                <a:solidFill>
                  <a:srgbClr val="141414"/>
                </a:solidFill>
                <a:latin typeface="Times New Roman"/>
              </a:rPr>
              <a:t>faster, more personalized and more responsive—while keeping</a:t>
            </a:r>
            <a:br/>
            <a:r>
              <a:rPr sz="2100" b="1">
                <a:solidFill>
                  <a:srgbClr val="141414"/>
                </a:solidFill>
                <a:latin typeface="Times New Roman"/>
              </a:rPr>
              <a:t>staff in control of important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94183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4800" b="0">
                <a:solidFill>
                  <a:srgbClr val="1F374B"/>
                </a:solidFill>
                <a:latin typeface="Baskerville Old Face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736</Words>
  <Application>Microsoft Office PowerPoint</Application>
  <PresentationFormat>Widescreen</PresentationFormat>
  <Paragraphs>117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Corbel</vt:lpstr>
      <vt:lpstr>Play</vt:lpstr>
      <vt:lpstr>Pinyon Script</vt:lpstr>
      <vt:lpstr>Times New Roman</vt:lpstr>
      <vt:lpstr>Baskerville Old Face</vt:lpstr>
      <vt:lpstr>Arial</vt:lpstr>
      <vt:lpstr>Office Theme</vt:lpstr>
      <vt:lpstr>School of Computer Science and Engineering B.Tech (CSE) 7th Semester</vt:lpstr>
      <vt:lpstr>Introduction</vt:lpstr>
      <vt:lpstr>Literature Review</vt:lpstr>
      <vt:lpstr>PowerPoint Presentation</vt:lpstr>
      <vt:lpstr>Implementation / Methodology</vt:lpstr>
      <vt:lpstr>Results</vt:lpstr>
      <vt:lpstr>Fig. Actual weekly dengue cases versus Holt–Winters predictions.</vt:lpstr>
      <vt:lpstr>Conclusion &amp; 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Swati Kumari</dc:creator>
  <cp:lastModifiedBy>Swati Kumari</cp:lastModifiedBy>
  <cp:revision>6</cp:revision>
  <dcterms:created xsi:type="dcterms:W3CDTF">2025-07-19T19:52:25Z</dcterms:created>
  <dcterms:modified xsi:type="dcterms:W3CDTF">2026-08-29T07:26:05Z</dcterms:modified>
</cp:coreProperties>
</file>